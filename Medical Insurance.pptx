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7"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5BCAD085-E8A6-8845-BD4E-CB4CCA059FC4}" type="datetimeFigureOut">
              <a:rPr lang="en-US" smtClean="0"/>
              <a:t>2/14/2026</a:t>
            </a:fld>
            <a:endParaRPr lang="en-US"/>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1813332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1755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6453378" y="5211060"/>
            <a:ext cx="1584198" cy="22860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734181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91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92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5406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7249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BCAD085-E8A6-8845-BD4E-CB4CCA059FC4}" type="datetimeFigureOut">
              <a:rPr lang="en-US" smtClean="0"/>
              <a:t>2/14/2026</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C1FF6DA9-008F-8B48-92A6-B652298478BF}" type="slidenum">
              <a:rPr lang="en-US" smtClean="0"/>
              <a:t>‹#›</a:t>
            </a:fld>
            <a:endParaRPr lang="en-US"/>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8059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5BCAD085-E8A6-8845-BD4E-CB4CCA059FC4}" type="datetimeFigureOut">
              <a:rPr lang="en-US" smtClean="0"/>
              <a:t>2/14/2026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C1FF6DA9-008F-8B48-92A6-B652298478BF}" type="slidenum">
              <a:rPr lang="en-US" smtClean="0"/>
              <a:t>‹#›</a:t>
            </a:fld>
            <a:endParaRPr lang="en-US"/>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54830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4783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2526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5BCAD085-E8A6-8845-BD4E-CB4CCA059FC4}" type="datetimeFigureOut">
              <a:rPr lang="en-US" smtClean="0"/>
              <a:t>2/14/2026</a:t>
            </a:fld>
            <a:endParaRPr lang="en-US"/>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185898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Medical Insurance Cost Prediction</a:t>
            </a:r>
          </a:p>
        </p:txBody>
      </p:sp>
      <p:sp>
        <p:nvSpPr>
          <p:cNvPr id="3" name="Subtitle 2"/>
          <p:cNvSpPr>
            <a:spLocks noGrp="1"/>
          </p:cNvSpPr>
          <p:nvPr>
            <p:ph type="subTitle" idx="1"/>
          </p:nvPr>
        </p:nvSpPr>
        <p:spPr/>
        <p:txBody>
          <a:bodyPr>
            <a:normAutofit lnSpcReduction="10000"/>
          </a:bodyPr>
          <a:lstStyle/>
          <a:p>
            <a:r>
              <a:rPr dirty="0"/>
              <a:t>End-to-End Regression Project</a:t>
            </a:r>
          </a:p>
          <a:p>
            <a:r>
              <a:rPr dirty="0"/>
              <a:t>Using Machine Learning &amp; </a:t>
            </a:r>
            <a:r>
              <a:rPr dirty="0" err="1"/>
              <a:t>Streamlit</a:t>
            </a:r>
            <a:endParaRPr dirty="0"/>
          </a:p>
        </p:txBody>
      </p:sp>
      <p:sp>
        <p:nvSpPr>
          <p:cNvPr id="4" name="Subtitle 2">
            <a:extLst>
              <a:ext uri="{FF2B5EF4-FFF2-40B4-BE49-F238E27FC236}">
                <a16:creationId xmlns:a16="http://schemas.microsoft.com/office/drawing/2014/main" id="{BA2E7B32-F4F6-7DBC-D86B-D95FBD77BC1D}"/>
              </a:ext>
            </a:extLst>
          </p:cNvPr>
          <p:cNvSpPr txBox="1">
            <a:spLocks/>
          </p:cNvSpPr>
          <p:nvPr/>
        </p:nvSpPr>
        <p:spPr>
          <a:xfrm>
            <a:off x="3796038" y="1421558"/>
            <a:ext cx="6803136" cy="502920"/>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4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400" kern="1200">
                <a:solidFill>
                  <a:schemeClr val="tx1"/>
                </a:solidFill>
                <a:latin typeface="+mn-lt"/>
                <a:ea typeface="+mn-ea"/>
                <a:cs typeface="+mn-cs"/>
              </a:defRPr>
            </a:lvl9pPr>
          </a:lstStyle>
          <a:p>
            <a:r>
              <a:rPr lang="en-US" dirty="0"/>
              <a:t>AVANTHI U 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rPr lang="en-US" dirty="0"/>
              <a:t>Build an end-to-end regression project to predict individual medical insurance costs based on factors such as age, gender, BMI, smoking status, and number of dependents. Utilize the provided dataset to clean and engineer features, train multiple regression models, and deploy the best model in a </a:t>
            </a:r>
            <a:r>
              <a:rPr lang="en-US" dirty="0" err="1"/>
              <a:t>Streamlit</a:t>
            </a:r>
            <a:r>
              <a:rPr lang="en-US" dirty="0"/>
              <a:t> application. The app should allow users to input personal health and demographic details to estimate their medical insurance costs.</a:t>
            </a:r>
          </a:p>
          <a:p>
            <a:br>
              <a:rPr lang="en-US"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Use Cases</a:t>
            </a:r>
          </a:p>
        </p:txBody>
      </p:sp>
      <p:sp>
        <p:nvSpPr>
          <p:cNvPr id="3" name="Content Placeholder 2"/>
          <p:cNvSpPr>
            <a:spLocks noGrp="1"/>
          </p:cNvSpPr>
          <p:nvPr>
            <p:ph idx="1"/>
          </p:nvPr>
        </p:nvSpPr>
        <p:spPr/>
        <p:txBody>
          <a:bodyPr>
            <a:normAutofit lnSpcReduction="10000"/>
          </a:bodyPr>
          <a:lstStyle/>
          <a:p>
            <a:pPr fontAlgn="base"/>
            <a:r>
              <a:rPr lang="en-US" dirty="0"/>
              <a:t>Assisting insurance companies in determining personalized insurance premiums.</a:t>
            </a:r>
            <a:br>
              <a:rPr lang="en-US" dirty="0"/>
            </a:br>
            <a:br>
              <a:rPr lang="en-US" dirty="0"/>
            </a:br>
            <a:endParaRPr lang="en-US" dirty="0"/>
          </a:p>
          <a:p>
            <a:pPr fontAlgn="base"/>
            <a:r>
              <a:rPr lang="en-US" dirty="0"/>
              <a:t>Helping individuals plan and compare medical insurance policies based on their profile.</a:t>
            </a:r>
            <a:br>
              <a:rPr lang="en-US" dirty="0"/>
            </a:br>
            <a:br>
              <a:rPr lang="en-US" dirty="0"/>
            </a:br>
            <a:endParaRPr lang="en-US" dirty="0"/>
          </a:p>
          <a:p>
            <a:pPr fontAlgn="base"/>
            <a:r>
              <a:rPr lang="en-US" dirty="0"/>
              <a:t>Supporting healthcare consultants in estimating out-of-pocket medical costs.</a:t>
            </a:r>
            <a:br>
              <a:rPr lang="en-US" dirty="0"/>
            </a:br>
            <a:br>
              <a:rPr lang="en-US" dirty="0"/>
            </a:br>
            <a:endParaRPr lang="en-US" dirty="0"/>
          </a:p>
          <a:p>
            <a:pPr fontAlgn="base"/>
            <a:r>
              <a:rPr lang="en-US" dirty="0"/>
              <a:t>Providing cost transparency and increasing financial awareness among policyholders.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a:xfrm>
            <a:off x="800346" y="1552514"/>
            <a:ext cx="7680960" cy="4484492"/>
          </a:xfrm>
        </p:spPr>
        <p:txBody>
          <a:bodyPr>
            <a:noAutofit/>
          </a:bodyPr>
          <a:lstStyle/>
          <a:p>
            <a:r>
              <a:rPr lang="en-US" sz="2000" b="1" dirty="0"/>
              <a:t>Features Included:</a:t>
            </a:r>
            <a:endParaRPr lang="en-US" sz="2000" dirty="0"/>
          </a:p>
          <a:p>
            <a:pPr fontAlgn="base"/>
            <a:r>
              <a:rPr lang="en-US" sz="2000" dirty="0"/>
              <a:t>age: Age of the primary beneficiary</a:t>
            </a:r>
          </a:p>
          <a:p>
            <a:pPr fontAlgn="base"/>
            <a:r>
              <a:rPr lang="en-US" sz="2000" dirty="0"/>
              <a:t>sex: Gender (male/female)</a:t>
            </a:r>
          </a:p>
          <a:p>
            <a:pPr fontAlgn="base"/>
            <a:r>
              <a:rPr lang="en-US" sz="2000" dirty="0" err="1"/>
              <a:t>bmi</a:t>
            </a:r>
            <a:r>
              <a:rPr lang="en-US" sz="2000" dirty="0"/>
              <a:t>: Body mass index</a:t>
            </a:r>
          </a:p>
          <a:p>
            <a:pPr fontAlgn="base"/>
            <a:r>
              <a:rPr lang="en-US" sz="2000" dirty="0"/>
              <a:t>children: Number of dependents covered by health insurance</a:t>
            </a:r>
          </a:p>
          <a:p>
            <a:pPr fontAlgn="base"/>
            <a:r>
              <a:rPr lang="en-US" sz="2000" dirty="0"/>
              <a:t>smoker: Whether the individual is a smoker</a:t>
            </a:r>
          </a:p>
          <a:p>
            <a:pPr fontAlgn="base"/>
            <a:r>
              <a:rPr lang="en-US" sz="2000" dirty="0"/>
              <a:t>region: Residential area (northeast, northwest, southeast, southwest)</a:t>
            </a:r>
          </a:p>
          <a:p>
            <a:pPr fontAlgn="base"/>
            <a:r>
              <a:rPr lang="en-US" sz="2000" dirty="0"/>
              <a:t>charges: Individual medical costs billed by health insurance (target variable)</a:t>
            </a:r>
          </a:p>
          <a:p>
            <a:br>
              <a:rPr lang="en-US" sz="2000" dirty="0"/>
            </a:b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10FDE-F521-09F3-B3A7-E86673631A96}"/>
              </a:ext>
            </a:extLst>
          </p:cNvPr>
          <p:cNvSpPr>
            <a:spLocks noGrp="1"/>
          </p:cNvSpPr>
          <p:nvPr>
            <p:ph type="title"/>
          </p:nvPr>
        </p:nvSpPr>
        <p:spPr/>
        <p:txBody>
          <a:bodyPr/>
          <a:lstStyle/>
          <a:p>
            <a:pPr algn="ctr"/>
            <a:r>
              <a:rPr lang="en-US" dirty="0"/>
              <a:t>DATASET</a:t>
            </a:r>
            <a:endParaRPr lang="en-IN" dirty="0"/>
          </a:p>
        </p:txBody>
      </p:sp>
      <p:pic>
        <p:nvPicPr>
          <p:cNvPr id="5" name="Content Placeholder 4">
            <a:extLst>
              <a:ext uri="{FF2B5EF4-FFF2-40B4-BE49-F238E27FC236}">
                <a16:creationId xmlns:a16="http://schemas.microsoft.com/office/drawing/2014/main" id="{21182B6E-942D-8509-703F-F866C5B31B83}"/>
              </a:ext>
            </a:extLst>
          </p:cNvPr>
          <p:cNvPicPr>
            <a:picLocks noGrp="1" noChangeAspect="1"/>
          </p:cNvPicPr>
          <p:nvPr>
            <p:ph idx="1"/>
          </p:nvPr>
        </p:nvPicPr>
        <p:blipFill>
          <a:blip r:embed="rId2"/>
          <a:stretch>
            <a:fillRect/>
          </a:stretch>
        </p:blipFill>
        <p:spPr>
          <a:xfrm>
            <a:off x="1030394" y="2625213"/>
            <a:ext cx="7230352" cy="2356729"/>
          </a:xfrm>
          <a:prstGeom prst="rect">
            <a:avLst/>
          </a:prstGeom>
        </p:spPr>
      </p:pic>
    </p:spTree>
    <p:extLst>
      <p:ext uri="{BB962C8B-B14F-4D97-AF65-F5344CB8AC3E}">
        <p14:creationId xmlns:p14="http://schemas.microsoft.com/office/powerpoint/2010/main" val="2877639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p:txBody>
          <a:bodyPr/>
          <a:lstStyle/>
          <a:p>
            <a:r>
              <a:rPr dirty="0"/>
              <a:t>• Checked missing &amp; duplicate values</a:t>
            </a:r>
          </a:p>
          <a:p>
            <a:r>
              <a:rPr dirty="0"/>
              <a:t>• Encoded categorical variables</a:t>
            </a:r>
          </a:p>
          <a:p>
            <a:r>
              <a:rPr dirty="0"/>
              <a:t>• Scaled numerical features (Age, BMI, Children)</a:t>
            </a:r>
          </a:p>
          <a:p>
            <a:r>
              <a:rPr dirty="0"/>
              <a:t>• Feature engineering (BMI categories, risk logic)</a:t>
            </a:r>
          </a:p>
        </p:txBody>
      </p:sp>
      <p:pic>
        <p:nvPicPr>
          <p:cNvPr id="5" name="Picture 4">
            <a:extLst>
              <a:ext uri="{FF2B5EF4-FFF2-40B4-BE49-F238E27FC236}">
                <a16:creationId xmlns:a16="http://schemas.microsoft.com/office/drawing/2014/main" id="{775DED2A-F9C6-65F3-4736-87EA393B3697}"/>
              </a:ext>
            </a:extLst>
          </p:cNvPr>
          <p:cNvPicPr>
            <a:picLocks noChangeAspect="1"/>
          </p:cNvPicPr>
          <p:nvPr/>
        </p:nvPicPr>
        <p:blipFill>
          <a:blip r:embed="rId2"/>
          <a:stretch>
            <a:fillRect/>
          </a:stretch>
        </p:blipFill>
        <p:spPr>
          <a:xfrm>
            <a:off x="275541" y="4070555"/>
            <a:ext cx="8592917" cy="18481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a:t>
            </a:r>
          </a:p>
        </p:txBody>
      </p:sp>
      <p:sp>
        <p:nvSpPr>
          <p:cNvPr id="3" name="Content Placeholder 2"/>
          <p:cNvSpPr>
            <a:spLocks noGrp="1"/>
          </p:cNvSpPr>
          <p:nvPr>
            <p:ph idx="1"/>
          </p:nvPr>
        </p:nvSpPr>
        <p:spPr/>
        <p:txBody>
          <a:bodyPr/>
          <a:lstStyle/>
          <a:p>
            <a:r>
              <a:rPr dirty="0"/>
              <a:t>• Charges distribution (Right-skewed)</a:t>
            </a:r>
          </a:p>
          <a:p>
            <a:r>
              <a:rPr dirty="0"/>
              <a:t>• Smoking significantly increases charges</a:t>
            </a:r>
          </a:p>
          <a:p>
            <a:r>
              <a:rPr dirty="0"/>
              <a:t>• Age positively correlates with charges</a:t>
            </a:r>
          </a:p>
          <a:p>
            <a:r>
              <a:rPr dirty="0"/>
              <a:t>• Obese smokers have highest costs</a:t>
            </a:r>
          </a:p>
        </p:txBody>
      </p:sp>
      <p:pic>
        <p:nvPicPr>
          <p:cNvPr id="5" name="Picture 4">
            <a:extLst>
              <a:ext uri="{FF2B5EF4-FFF2-40B4-BE49-F238E27FC236}">
                <a16:creationId xmlns:a16="http://schemas.microsoft.com/office/drawing/2014/main" id="{86B1745E-BD47-AFB3-CAF4-465A9E3FD85A}"/>
              </a:ext>
            </a:extLst>
          </p:cNvPr>
          <p:cNvPicPr>
            <a:picLocks noChangeAspect="1"/>
          </p:cNvPicPr>
          <p:nvPr/>
        </p:nvPicPr>
        <p:blipFill>
          <a:blip r:embed="rId2"/>
          <a:stretch>
            <a:fillRect/>
          </a:stretch>
        </p:blipFill>
        <p:spPr>
          <a:xfrm>
            <a:off x="462117" y="3726427"/>
            <a:ext cx="8259096" cy="26546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Building</a:t>
            </a:r>
          </a:p>
        </p:txBody>
      </p:sp>
      <p:sp>
        <p:nvSpPr>
          <p:cNvPr id="3" name="Content Placeholder 2"/>
          <p:cNvSpPr>
            <a:spLocks noGrp="1"/>
          </p:cNvSpPr>
          <p:nvPr>
            <p:ph idx="1"/>
          </p:nvPr>
        </p:nvSpPr>
        <p:spPr/>
        <p:txBody>
          <a:bodyPr/>
          <a:lstStyle/>
          <a:p>
            <a:r>
              <a:rPr dirty="0"/>
              <a:t>Trained Multiple Regression Models:</a:t>
            </a:r>
          </a:p>
          <a:p>
            <a:r>
              <a:rPr dirty="0"/>
              <a:t>• Linear Regression</a:t>
            </a:r>
          </a:p>
          <a:p>
            <a:r>
              <a:rPr dirty="0"/>
              <a:t>• Random Forest</a:t>
            </a:r>
          </a:p>
          <a:p>
            <a:r>
              <a:rPr dirty="0"/>
              <a:t>• </a:t>
            </a:r>
            <a:r>
              <a:rPr dirty="0" err="1"/>
              <a:t>XGBoost</a:t>
            </a:r>
            <a:endParaRPr lang="en-US" dirty="0"/>
          </a:p>
          <a:p>
            <a:r>
              <a:rPr lang="en-IN" dirty="0"/>
              <a:t>Ridge Regression</a:t>
            </a:r>
          </a:p>
          <a:p>
            <a:r>
              <a:rPr lang="en-IN" dirty="0"/>
              <a:t>Lasso Regression</a:t>
            </a:r>
          </a:p>
          <a:p>
            <a:r>
              <a:rPr lang="en-IN" dirty="0"/>
              <a:t>Gradient Boost Regressor</a:t>
            </a:r>
            <a:endParaRPr dirty="0"/>
          </a:p>
          <a:p>
            <a:r>
              <a:rPr dirty="0"/>
              <a:t>Compared using RMSE, MAE, and R²</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Evaluation</a:t>
            </a:r>
          </a:p>
        </p:txBody>
      </p:sp>
      <p:sp>
        <p:nvSpPr>
          <p:cNvPr id="3" name="Content Placeholder 2"/>
          <p:cNvSpPr>
            <a:spLocks noGrp="1"/>
          </p:cNvSpPr>
          <p:nvPr>
            <p:ph idx="1"/>
          </p:nvPr>
        </p:nvSpPr>
        <p:spPr/>
        <p:txBody>
          <a:bodyPr/>
          <a:lstStyle/>
          <a:p>
            <a:r>
              <a:rPr dirty="0"/>
              <a:t>Selected best-performing model</a:t>
            </a:r>
            <a:r>
              <a:rPr lang="en-US" dirty="0"/>
              <a:t> – XG BOOST</a:t>
            </a:r>
            <a:endParaRPr dirty="0"/>
          </a:p>
          <a:p>
            <a:r>
              <a:rPr dirty="0"/>
              <a:t>Tracked experiments using </a:t>
            </a:r>
            <a:r>
              <a:rPr dirty="0" err="1"/>
              <a:t>MLflow</a:t>
            </a:r>
            <a:endParaRPr dirty="0"/>
          </a:p>
          <a:p>
            <a:r>
              <a:rPr dirty="0"/>
              <a:t>Registered best model in model registry</a:t>
            </a:r>
          </a:p>
        </p:txBody>
      </p:sp>
      <p:pic>
        <p:nvPicPr>
          <p:cNvPr id="5" name="Picture 4">
            <a:extLst>
              <a:ext uri="{FF2B5EF4-FFF2-40B4-BE49-F238E27FC236}">
                <a16:creationId xmlns:a16="http://schemas.microsoft.com/office/drawing/2014/main" id="{5EC9AD7E-32D7-9AF9-8C8D-978E558467A5}"/>
              </a:ext>
            </a:extLst>
          </p:cNvPr>
          <p:cNvPicPr>
            <a:picLocks noChangeAspect="1"/>
          </p:cNvPicPr>
          <p:nvPr/>
        </p:nvPicPr>
        <p:blipFill>
          <a:blip r:embed="rId2"/>
          <a:stretch>
            <a:fillRect/>
          </a:stretch>
        </p:blipFill>
        <p:spPr>
          <a:xfrm>
            <a:off x="2771934" y="3678020"/>
            <a:ext cx="3444713" cy="12577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err="1"/>
              <a:t>Streamlit</a:t>
            </a:r>
            <a:r>
              <a:rPr dirty="0"/>
              <a:t> Application</a:t>
            </a:r>
          </a:p>
        </p:txBody>
      </p:sp>
      <p:sp>
        <p:nvSpPr>
          <p:cNvPr id="3" name="Content Placeholder 2"/>
          <p:cNvSpPr>
            <a:spLocks noGrp="1"/>
          </p:cNvSpPr>
          <p:nvPr>
            <p:ph idx="1"/>
          </p:nvPr>
        </p:nvSpPr>
        <p:spPr>
          <a:xfrm>
            <a:off x="1931056" y="1671975"/>
            <a:ext cx="7680960" cy="3931920"/>
          </a:xfrm>
        </p:spPr>
        <p:txBody>
          <a:bodyPr/>
          <a:lstStyle/>
          <a:p>
            <a:r>
              <a:rPr dirty="0"/>
              <a:t>• Interactive EDA dashboard</a:t>
            </a:r>
          </a:p>
          <a:p>
            <a:r>
              <a:rPr dirty="0"/>
              <a:t>• Risk classification system</a:t>
            </a:r>
          </a:p>
          <a:p>
            <a:r>
              <a:rPr dirty="0"/>
              <a:t>• Insurance cost prediction</a:t>
            </a:r>
          </a:p>
          <a:p>
            <a:r>
              <a:rPr dirty="0"/>
              <a:t>• Health profile analyzer</a:t>
            </a:r>
          </a:p>
        </p:txBody>
      </p:sp>
      <p:pic>
        <p:nvPicPr>
          <p:cNvPr id="5" name="Picture 4">
            <a:extLst>
              <a:ext uri="{FF2B5EF4-FFF2-40B4-BE49-F238E27FC236}">
                <a16:creationId xmlns:a16="http://schemas.microsoft.com/office/drawing/2014/main" id="{04C29660-B327-92FB-865D-97D01E7145EA}"/>
              </a:ext>
            </a:extLst>
          </p:cNvPr>
          <p:cNvPicPr>
            <a:picLocks noChangeAspect="1"/>
          </p:cNvPicPr>
          <p:nvPr/>
        </p:nvPicPr>
        <p:blipFill>
          <a:blip r:embed="rId2"/>
          <a:stretch>
            <a:fillRect/>
          </a:stretch>
        </p:blipFill>
        <p:spPr>
          <a:xfrm>
            <a:off x="594851" y="3429000"/>
            <a:ext cx="7954297" cy="30319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Key Insights</a:t>
            </a:r>
          </a:p>
        </p:txBody>
      </p:sp>
      <p:sp>
        <p:nvSpPr>
          <p:cNvPr id="3" name="Content Placeholder 2"/>
          <p:cNvSpPr>
            <a:spLocks noGrp="1"/>
          </p:cNvSpPr>
          <p:nvPr>
            <p:ph idx="1"/>
          </p:nvPr>
        </p:nvSpPr>
        <p:spPr/>
        <p:txBody>
          <a:bodyPr/>
          <a:lstStyle/>
          <a:p>
            <a:r>
              <a:rPr dirty="0"/>
              <a:t>• Smoking is the strongest predictor of cost</a:t>
            </a:r>
          </a:p>
          <a:p>
            <a:r>
              <a:rPr dirty="0"/>
              <a:t>• Age increases medical expenses</a:t>
            </a:r>
          </a:p>
          <a:p>
            <a:r>
              <a:rPr dirty="0"/>
              <a:t>• Obese smokers face highest premiums</a:t>
            </a:r>
          </a:p>
          <a:p>
            <a:r>
              <a:rPr dirty="0"/>
              <a:t>• BMI and region moderately impact charges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8</TotalTime>
  <Words>365</Words>
  <Application>Microsoft Office PowerPoint</Application>
  <PresentationFormat>On-screen Show (4:3)</PresentationFormat>
  <Paragraphs>56</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Century Gothic</vt:lpstr>
      <vt:lpstr>Garamond</vt:lpstr>
      <vt:lpstr>Savon</vt:lpstr>
      <vt:lpstr>Medical Insurance Cost Prediction</vt:lpstr>
      <vt:lpstr>Problem Statement</vt:lpstr>
      <vt:lpstr>Business Use Cases</vt:lpstr>
      <vt:lpstr>Dataset Overview</vt:lpstr>
      <vt:lpstr>DATASET</vt:lpstr>
      <vt:lpstr>Data Preprocessing</vt:lpstr>
      <vt:lpstr>Exploratory Data Analysis</vt:lpstr>
      <vt:lpstr>Model Building</vt:lpstr>
      <vt:lpstr>Model Evaluation</vt:lpstr>
      <vt:lpstr>Streamlit Application</vt:lpstr>
      <vt:lpstr>Key Insights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ADMIN</cp:lastModifiedBy>
  <cp:revision>3</cp:revision>
  <dcterms:created xsi:type="dcterms:W3CDTF">2013-01-27T09:14:16Z</dcterms:created>
  <dcterms:modified xsi:type="dcterms:W3CDTF">2026-02-14T14:58:19Z</dcterms:modified>
  <cp:category/>
</cp:coreProperties>
</file>